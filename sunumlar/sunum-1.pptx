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205740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0479"/>
            <a:ext cx="457200" cy="205740"/>
          </a:xfrm>
          <a:prstGeom prst="diamond">
            <a:avLst/>
          </a:prstGeom>
          <a:solidFill>
            <a:srgbClr val="EAF3EE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58038"/>
            <a:ext cx="457200" cy="205740"/>
          </a:xfrm>
          <a:prstGeom prst="diamond">
            <a:avLst/>
          </a:prstGeom>
          <a:solidFill>
            <a:srgbClr val="F0A93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502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TANITIM SİTESİ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#1 — Keşif &amp; Tasarım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24–28 Ağustos  ·  Nuhser Atala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HEDEFİ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Mesajı netleştirmek, siteyi tasarlamadan önce ne anlatacağına karar vermek ve tasarım yönünü onaya sunmak. Bu hafta 5 görev tamamlandı — her birinin çıktısı ayrı slaytta.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49640" y="352044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17604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3520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2075688" cy="1005840"/>
          </a:xfrm>
          <a:prstGeom prst="roundRect">
            <a:avLst>
              <a:gd name="adj" fmla="val 7273"/>
            </a:avLst>
          </a:prstGeom>
          <a:solidFill>
            <a:srgbClr val="1A2F2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5303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&amp; Ana Mesajlar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807208" y="5212080"/>
            <a:ext cx="2075688" cy="1005840"/>
          </a:xfrm>
          <a:prstGeom prst="roundRect">
            <a:avLst>
              <a:gd name="adj" fmla="val 7273"/>
            </a:avLst>
          </a:prstGeom>
          <a:solidFill>
            <a:srgbClr val="1A2F28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5303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65776" y="5212080"/>
            <a:ext cx="2075688" cy="1005840"/>
          </a:xfrm>
          <a:prstGeom prst="roundRect">
            <a:avLst>
              <a:gd name="adj" fmla="val 7273"/>
            </a:avLst>
          </a:prstGeom>
          <a:solidFill>
            <a:srgbClr val="1A2F28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5303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Haritası &amp; Wireframe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24344" y="5212080"/>
            <a:ext cx="2075688" cy="1005840"/>
          </a:xfrm>
          <a:prstGeom prst="roundRect">
            <a:avLst>
              <a:gd name="adj" fmla="val 7273"/>
            </a:avLst>
          </a:prstGeom>
          <a:solidFill>
            <a:srgbClr val="1A2F28"/>
          </a:solidFill>
          <a:ln/>
        </p:spPr>
      </p:sp>
      <p:sp>
        <p:nvSpPr>
          <p:cNvPr id="19" name="Text 17"/>
          <p:cNvSpPr/>
          <p:nvPr/>
        </p:nvSpPr>
        <p:spPr>
          <a:xfrm>
            <a:off x="7488936" y="5303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Dili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82912" y="5212080"/>
            <a:ext cx="2075688" cy="1005840"/>
          </a:xfrm>
          <a:prstGeom prst="roundRect">
            <a:avLst>
              <a:gd name="adj" fmla="val 7273"/>
            </a:avLst>
          </a:prstGeom>
          <a:solidFill>
            <a:srgbClr val="1A2F28"/>
          </a:solidFill>
          <a:ln/>
        </p:spPr>
      </p:sp>
      <p:sp>
        <p:nvSpPr>
          <p:cNvPr id="21" name="Text 19"/>
          <p:cNvSpPr/>
          <p:nvPr/>
        </p:nvSpPr>
        <p:spPr>
          <a:xfrm>
            <a:off x="9747504" y="5303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Taslağı &amp; Kalibrasyon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1 /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&amp; Ana Mesajlar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yaptım?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kaynaklardan CBS kavramlarını, TUCBS ulusal standardını, vektör karo (MVT) teknolojisini ve veri kalitesi kavramlarını araştırdım; kaynaklı not dosyası depoda.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ne?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Sitenin anlatacağı 6 ana mesaj — araştırmayla doğrulandı, sıralaması bilinçli: önce herkesin anladığı mesajlar, sonra kurumsal güven mesajları.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notlar/cbs-arastirma-notlari.md  ·  src/data/mesajlar.js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6072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ÇIKTI: 6 ANA MESAJ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965960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1965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Şehrin tüm altyapısı tek haritada, sorgulanabilir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60720" y="2679192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6791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6791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veri katmanı ayrı ayrı açılıp kapanır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60720" y="3392424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3924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39242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ve akıcı harita deneyimi (MVT)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60720" y="4105656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41056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410565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kurumun kendi sunucusunda — dışarı çıkmaz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60720" y="4818888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8188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48188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standartlarla (TUCBS) uyumlu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60720" y="5532120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5532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5532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verinin kaynağı belli — denetlenebilir kalite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2 /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— 5 Referans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73936"/>
            <a:ext cx="219456" cy="219456"/>
          </a:xfrm>
          <a:prstGeom prst="diamond">
            <a:avLst/>
          </a:prstGeom>
          <a:solidFill>
            <a:srgbClr val="17604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91056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Netcad KEOS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6'lı özellik kartı düzeni ve SSS yapısı güçlü; uzun metin blokları yorucu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670048"/>
            <a:ext cx="219456" cy="219456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8716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 görsel haritanın kendisi — hero'da harita göstermek işe yarıyor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3566160"/>
            <a:ext cx="219456" cy="219456"/>
          </a:xfrm>
          <a:prstGeom prst="diamond">
            <a:avLst/>
          </a:prstGeom>
          <a:solidFill>
            <a:srgbClr val="F0A93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832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 sahipliği &amp; güvenlik" ayrı bölüm olarak işlenmiş — bizim 4. mesajla aynı akıl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462272"/>
            <a:ext cx="219456" cy="219456"/>
          </a:xfrm>
          <a:prstGeom prst="diamond">
            <a:avLst/>
          </a:prstGeom>
          <a:solidFill>
            <a:srgbClr val="1760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7939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Altındağ KBS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Ziyaretçiye hiçbir açıklama yok, direkt login — tanıtım vitrini ihtiyacının kanıtı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5358384"/>
            <a:ext cx="219456" cy="219456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175504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Konya KBS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tamamen JS'le yükleniyor; arama motoru boş sayfa görüyor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3749040" cy="4434840"/>
          </a:xfrm>
          <a:prstGeom prst="roundRect">
            <a:avLst>
              <a:gd name="adj" fmla="val 2927"/>
            </a:avLst>
          </a:prstGeom>
          <a:solidFill>
            <a:srgbClr val="10201B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KARARLARA ETKİSİ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237744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6 mesaj kartı ızgarası olacak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 mockup'ı hero'nun merkezinde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 kurumda" ayrı güven bölümü olarak işlenecek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HTML kararı doğrulandı — içerik JS'siz okunabilir, SEO hedefi buna bağlı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Metinler kısa tutulacak — bölüm başına tek fikir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3 /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Haritası &amp; Wireframe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A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31638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013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nav · CTA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3163824" cy="777240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488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başlık + harita kartı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2999232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999232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999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kart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16352" y="2999232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456432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3456432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6352" y="3456432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977640"/>
            <a:ext cx="3163824" cy="347472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7764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Rakamlarla CBS bandı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" y="4398264"/>
            <a:ext cx="316382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39826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özellikler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5020056"/>
            <a:ext cx="3163824" cy="347472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0200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 CTA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 /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7408" y="1691640"/>
            <a:ext cx="338328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36" y="1801368"/>
            <a:ext cx="31638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18013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+ özet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17136" y="2148840"/>
            <a:ext cx="15453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7136" y="2148840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35624" y="2148840"/>
            <a:ext cx="1545336" cy="1005840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2148840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17136" y="3227832"/>
            <a:ext cx="1545336" cy="1005840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3227832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35624" y="3227832"/>
            <a:ext cx="15453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3227832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17136" y="4306824"/>
            <a:ext cx="15453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4306824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35624" y="4306824"/>
            <a:ext cx="1545336" cy="1005840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35624" y="4306824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07408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 /ozellikler · 6 bölüm zigzag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66176" y="1691640"/>
            <a:ext cx="338328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A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5904" y="1801368"/>
            <a:ext cx="31638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5904" y="18013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375904" y="2148840"/>
            <a:ext cx="316382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75904" y="2148840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hakkında — 2-3 paragraf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375904" y="3410712"/>
            <a:ext cx="3163824" cy="914400"/>
          </a:xfrm>
          <a:prstGeom prst="rect">
            <a:avLst/>
          </a:prstGeom>
          <a:solidFill>
            <a:srgbClr val="F3EDDE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75904" y="341071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haritası (yakında dili)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375904" y="4398264"/>
            <a:ext cx="3163824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5863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75904" y="4398264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iletişim — e-posta, adres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66176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Hakkında  /hakkinda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sayfa başına tek h1 · başlık hiyerarşisi atlanmaz · mobil öncelikli (640 / 900 / 1200px)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4 /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Tasarım Dili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PALETİ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AF6EC"/>
          </a:solidFill>
          <a:ln w="12700">
            <a:solidFill>
              <a:srgbClr val="E8E1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Krem zemin  </a:t>
            </a:r>
            <a:pPr indent="0" marL="0">
              <a:buNone/>
            </a:pPr>
            <a:r>
              <a:rPr lang="en-US" sz="10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#FAF6EC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7604C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 yeşil (marka)  </a:t>
            </a:r>
            <a:pPr indent="0" marL="0">
              <a:buNone/>
            </a:pPr>
            <a:r>
              <a:rPr lang="en-US" sz="10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#17604C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0A93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(eylem)  </a:t>
            </a:r>
            <a:pPr indent="0" marL="0">
              <a:buNone/>
            </a:pPr>
            <a:r>
              <a:rPr lang="en-US" sz="10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#F0A93F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2461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0201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 harita  </a:t>
            </a:r>
            <a:pPr indent="0" marL="0">
              <a:buNone/>
            </a:pPr>
            <a:r>
              <a:rPr lang="en-US" sz="10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#10201B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35C4B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93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Turkuaz (katman)  </a:t>
            </a:r>
            <a:pPr indent="0" marL="0">
              <a:buNone/>
            </a:pPr>
            <a:r>
              <a:rPr lang="en-US" sz="10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#35C4B5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44805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E2A24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93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 </a:t>
            </a:r>
            <a:pPr indent="0" marL="0">
              <a:buNone/>
            </a:pPr>
            <a:r>
              <a:rPr lang="en-US" sz="100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#1E2A24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renk kodu yalnızca tokens.css'te yazılır · metin/zemin kontrastı ≥ 4.5:1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TİPOGRAFİ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795528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başlıklar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— zarif, kurumsal; vurgular italik ve koyu yeşil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95528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 gövde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Segoe UI — okunaklı; kalıcı yerel font 2. haftada eklenecek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709160"/>
            <a:ext cx="777240" cy="349758"/>
          </a:xfrm>
          <a:prstGeom prst="diamond">
            <a:avLst/>
          </a:prstGeom>
          <a:solidFill>
            <a:srgbClr val="17604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926010"/>
            <a:ext cx="777240" cy="349758"/>
          </a:xfrm>
          <a:prstGeom prst="diamond">
            <a:avLst/>
          </a:prstGeom>
          <a:solidFill>
            <a:srgbClr val="35C4B5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5142860"/>
            <a:ext cx="777240" cy="349758"/>
          </a:xfrm>
          <a:prstGeom prst="diamond">
            <a:avLst/>
          </a:prstGeom>
          <a:solidFill>
            <a:srgbClr val="F0A93F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869680" y="46634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"Katmanlar" işareti — üç veri katmanı üst üste. 3 seçenek arasından seçildi; favicon üretildi.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5 /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Taslağı &amp; Kalibrasyon — Çıktının Kendisi</a:t>
            </a:r>
            <a:endParaRPr lang="en-US" sz="3000" dirty="0"/>
          </a:p>
        </p:txBody>
      </p:sp>
      <p:pic>
        <p:nvPicPr>
          <p:cNvPr id="4" name="Image 0" descr="C:/Users/nuhse/AppData/Local/Temp/claude/C--Users-nuhse-OneDrive-Masa-st--bingol/40443026-e10f-46f3-8fbe-591507743d75/scratchpad/hero-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583680" cy="470001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6263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hero taslağı — onaylı tasarım dili uygulanmış hâli</a:t>
            </a:r>
            <a:endParaRPr lang="en-US" sz="1100" dirty="0"/>
          </a:p>
        </p:txBody>
      </p:sp>
      <p:pic>
        <p:nvPicPr>
          <p:cNvPr id="6" name="Image 1" descr="C:/Users/nuhse/AppData/Local/Temp/claude/C--Users-nuhse-OneDrive-Masa-st--bingol/40443026-e10f-46f3-8fbe-591507743d75/scratchpad/kalib-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508760"/>
            <a:ext cx="4160520" cy="267919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498080" y="42245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Kalibrasyon görevi — tek bölümlük duyarlı sayfa (3→2→1 sütun)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498080" y="489204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2F28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0" y="5074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sayfa tarayıcıda gezilecek; pencere daraltılarak mobil hâli gösterilecek.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Öğrendim · Neyi Farklı Yapardım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A24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ÖĞRENDİM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01168" cy="201168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031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TUCBS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coğrafi veri standardı; 32 veri teması — "uyumluluk" mesajımızın dayanağı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73552"/>
            <a:ext cx="201168" cy="201168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0906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karo (MVT)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karodan 5–10× küçük; çizim tarayıcıda — "hızlı harita" iddiası ölçülebilir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261104"/>
            <a:ext cx="201168" cy="201168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078224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Metaveri &amp; lineage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 nereden geldi" sorusunun teknik karşılığı — veri kalitesi mesajının temeli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248656"/>
            <a:ext cx="201168" cy="201168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506577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dersi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İçeriği JS'e gömülü KBS siteleri arama motoruna görünmüyor — statik HTML kararı doğru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10201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NEYİ FARKLI YAPARDIM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52360" y="21488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Depoyu ilk iş kurmak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bağlantısı sona kaldı; birleştirme çakışmasıyla uğraştım. Önce iskelet, sonra üretim.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52360" y="34290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turda tek değişiklik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Hero'da aynı anda çok şeyi değiştirmek karşılaştırmayı zorlaştırdı; küçük adım daha hızlı sonuç verdi.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52360" y="4709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yönü erken göstermek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Krem zemin + serif kararına geri bildirimle ulaştık — ilk taslağı daha erken paylaşmak zaman kazandırırdı.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205740"/>
          </a:xfrm>
          <a:prstGeom prst="diamond">
            <a:avLst/>
          </a:prstGeom>
          <a:solidFill>
            <a:srgbClr val="35C4B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0479"/>
            <a:ext cx="457200" cy="205740"/>
          </a:xfrm>
          <a:prstGeom prst="diamond">
            <a:avLst/>
          </a:prstGeom>
          <a:solidFill>
            <a:srgbClr val="EAF3EE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58038"/>
            <a:ext cx="457200" cy="205740"/>
          </a:xfrm>
          <a:prstGeom prst="diamond">
            <a:avLst/>
          </a:prstGeom>
          <a:solidFill>
            <a:srgbClr val="F0A93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411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Hafta — İskelet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31 Ağustos – 4 Eylül  ·  hedef: localhost'ta gezilebilir site iskeleti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A2F28"/>
          </a:solidFill>
          <a:ln w="9525">
            <a:solidFill>
              <a:srgbClr val="35C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kurulumu, Layout.astro, yerel latin-ext fontlar, 3 boş sayfa rotası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A2F28"/>
          </a:solidFill>
          <a:ln w="9525">
            <a:solidFill>
              <a:srgbClr val="35C4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072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7614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Onaylı hero + mesaj kartları bölümünün gerçek koda dökülmesi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A2F28"/>
          </a:solidFill>
          <a:ln w="9525">
            <a:solidFill>
              <a:srgbClr val="35C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5701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51129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Navigasyon, footer, "Rakamlarla CBS" bandı iskeleti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A2F28"/>
          </a:solidFill>
          <a:ln w="9525">
            <a:solidFill>
              <a:srgbClr val="35C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0682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426110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sayfası iskeleti (6 bölüm) + tampon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56632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A2F28"/>
          </a:solidFill>
          <a:ln w="9525">
            <a:solidFill>
              <a:srgbClr val="35C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566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50109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kontrol, prova — 15.00 Sunum #2 (localhost demosu)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63840" y="2057400"/>
            <a:ext cx="3749040" cy="3749040"/>
          </a:xfrm>
          <a:prstGeom prst="roundRect">
            <a:avLst>
              <a:gd name="adj" fmla="val 2927"/>
            </a:avLst>
          </a:prstGeom>
          <a:solidFill>
            <a:srgbClr val="1A2F28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ENGELLER &amp; İHTİYAÇLAR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27889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Engel: yok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4 gün önde ilerliyor.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İhtiyaç: tasarım onayı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C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sunum tasarım onay kapısı — site haritası, wireframe ve tasarım dili için onay/düzeltme bekliyorum.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2026-08-24T11:35:13Z</dcterms:created>
  <dcterms:modified xsi:type="dcterms:W3CDTF">2026-08-24T11:35:13Z</dcterms:modified>
</cp:coreProperties>
</file>